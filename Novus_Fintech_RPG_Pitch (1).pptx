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Novus is a fintech RPG that teaches financial decision-making by simulation. Plays in the browser, single player, Indian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to markets has scaled faster than competence: 26 crore trading accounts against a literacy rate of 27%.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Aviation solved this with CBT and simulators; medicine followed with mannequins and OSCEs. Finance still teaches by reading, unless you can afford an institutional trading 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teaching model, and the one rule the game will not bend: the bad decision plays out and costs you, and only then is it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walkable pixel city, eight enterable venues, a day that runs 9:15 to 3:30 at one real second per game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HUD is the whole state of the player in one strip: XP, energy, reputation, cash, the day arc with a pixel sun crossing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Loan files with real figures. You make the call; it is scored on your reasoning, and afterwards the ratios are rebuilt and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invented listed companies, prices moving each game minute by drift plus noise plus sector shocks, seeded so a save resumes bit for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pieces make it an education tool rather than a game with finance skinned on. All six are built and deployed, and none interrupt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an instructor or a recruiter reads: everything decided, predicted and got wrong, copyable as plain text. Certificates come off the transcript, never off cash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 kept strictly apart: sim owns money and randomness, world draws the city, ui shows state. That separation keeps the market testable and leaves multiplayer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Sixteen build steps and a redesign pass are done and deployed. Next is depth: more case types, the unbuilt interiors, a source pass on the Casebook. Then careers and cohorts. Multiplayer is architected for,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in the browser makes the argument better than any slide here. Play a day, take one loan call, read the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e.akshatchowdhary.online/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574" r="574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091C">
                  <a:alpha val="100000"/>
                </a:srgbClr>
              </a:gs>
              <a:gs pos="46000">
                <a:srgbClr val="16091C">
                  <a:alpha val="97000"/>
                </a:srgbClr>
              </a:gs>
              <a:gs pos="70000">
                <a:srgbClr val="16091C">
                  <a:alpha val="74000"/>
                </a:srgbClr>
              </a:gs>
              <a:gs pos="100000">
                <a:srgbClr val="16091C">
                  <a:alpha val="38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952500" y="804863"/>
            <a:ext cx="209550" cy="20955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762000"/>
            <a:ext cx="14334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NOVUS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884289" y="762000"/>
            <a:ext cx="183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0.1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500" y="2616398"/>
            <a:ext cx="12165330" cy="2988469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61645" dir="2700000">
              <a:srgbClr val="FF2D78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3"/>
              </a:lnSpc>
              <a:buNone/>
            </a:pPr>
            <a:r>
              <a:rPr lang="en-US" sz="13200" b="1" spc="-396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Finance, played.</a:t>
            </a:r>
            <a:endParaRPr lang="en-US" sz="13200" dirty="0"/>
          </a:p>
        </p:txBody>
      </p:sp>
      <p:sp>
        <p:nvSpPr>
          <p:cNvPr id="8" name="Text 5"/>
          <p:cNvSpPr/>
          <p:nvPr/>
        </p:nvSpPr>
        <p:spPr>
          <a:xfrm>
            <a:off x="952500" y="5928717"/>
            <a:ext cx="10006965" cy="150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285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RPG where you take a desk at a bank, judge loan files against real numbers, trade a market that ticks — and live with every call you make.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952500" y="8953500"/>
            <a:ext cx="3461296" cy="6096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0" name="Text 7"/>
          <p:cNvSpPr/>
          <p:nvPr/>
        </p:nvSpPr>
        <p:spPr>
          <a:xfrm>
            <a:off x="1181100" y="9105900"/>
            <a:ext cx="31079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DECISIONS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4604296" y="8953500"/>
            <a:ext cx="3308896" cy="60960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2" name="Text 9"/>
          <p:cNvSpPr/>
          <p:nvPr/>
        </p:nvSpPr>
        <p:spPr>
          <a:xfrm>
            <a:off x="4832896" y="9105900"/>
            <a:ext cx="2950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MARKET SIM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8103691" y="8953500"/>
            <a:ext cx="4979343" cy="609600"/>
          </a:xfrm>
          <a:prstGeom prst="rect">
            <a:avLst/>
          </a:prstGeom>
          <a:ln w="19050">
            <a:solidFill>
              <a:srgbClr val="F7EE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1341" y="9105900"/>
            <a:ext cx="4633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 AND ACADEMY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4820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7904" y="723900"/>
            <a:ext cx="247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3075980"/>
            <a:ext cx="8382000" cy="1412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446"/>
              </a:lnSpc>
              <a:buNone/>
            </a:pPr>
            <a:r>
              <a:rPr lang="en-US" sz="13200" spc="-528" kern="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cr</a:t>
            </a:r>
            <a:endParaRPr lang="en-US" sz="13200" dirty="0"/>
          </a:p>
        </p:txBody>
      </p:sp>
      <p:sp>
        <p:nvSpPr>
          <p:cNvPr id="5" name="Text 3"/>
          <p:cNvSpPr/>
          <p:nvPr/>
        </p:nvSpPr>
        <p:spPr>
          <a:xfrm>
            <a:off x="952500" y="4622006"/>
            <a:ext cx="838200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accounts on the NSE, June 2026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239196"/>
            <a:ext cx="78486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crore was added in under four months. Demat accounts stand at 23.4 crore.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0" y="2984748"/>
            <a:ext cx="38100" cy="3117354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2984748"/>
            <a:ext cx="8088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FINANCIALLY LITERATE ADULTS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82200" y="3527673"/>
            <a:ext cx="285750" cy="6096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4625" y="3527673"/>
            <a:ext cx="285750" cy="6096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87050" y="3527673"/>
            <a:ext cx="285750" cy="6096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39475" y="3527673"/>
            <a:ext cx="285750" cy="6096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91900" y="3527673"/>
            <a:ext cx="285750" cy="6096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4432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9675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4917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0160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315402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0645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0" name="Shape 18"/>
          <p:cNvSpPr/>
          <p:nvPr/>
        </p:nvSpPr>
        <p:spPr>
          <a:xfrm>
            <a:off x="1385887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1" name="Shape 19"/>
          <p:cNvSpPr/>
          <p:nvPr/>
        </p:nvSpPr>
        <p:spPr>
          <a:xfrm>
            <a:off x="1421130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2" name="Shape 20"/>
          <p:cNvSpPr/>
          <p:nvPr/>
        </p:nvSpPr>
        <p:spPr>
          <a:xfrm>
            <a:off x="1456372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491615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4" name="Shape 22"/>
          <p:cNvSpPr/>
          <p:nvPr/>
        </p:nvSpPr>
        <p:spPr>
          <a:xfrm>
            <a:off x="1526857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5" name="Shape 23"/>
          <p:cNvSpPr/>
          <p:nvPr/>
        </p:nvSpPr>
        <p:spPr>
          <a:xfrm>
            <a:off x="1562100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7342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7" name="Shape 25"/>
          <p:cNvSpPr/>
          <p:nvPr/>
        </p:nvSpPr>
        <p:spPr>
          <a:xfrm>
            <a:off x="16325850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8" name="Shape 26"/>
          <p:cNvSpPr/>
          <p:nvPr/>
        </p:nvSpPr>
        <p:spPr>
          <a:xfrm>
            <a:off x="16678275" y="3527673"/>
            <a:ext cx="285750" cy="60960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29" name="Text 27"/>
          <p:cNvSpPr/>
          <p:nvPr/>
        </p:nvSpPr>
        <p:spPr>
          <a:xfrm>
            <a:off x="9982200" y="4384923"/>
            <a:ext cx="808846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56"/>
              </a:lnSpc>
              <a:buNone/>
            </a:pPr>
            <a:r>
              <a:rPr lang="en-US" sz="57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5700" dirty="0"/>
          </a:p>
        </p:txBody>
      </p:sp>
      <p:sp>
        <p:nvSpPr>
          <p:cNvPr id="30" name="Text 28"/>
          <p:cNvSpPr/>
          <p:nvPr/>
        </p:nvSpPr>
        <p:spPr>
          <a:xfrm>
            <a:off x="9982200" y="5356473"/>
            <a:ext cx="757374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urban, 24% rural. NCFE Financial Literacy and Inclusion Survey, 2019.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952500" y="8067675"/>
            <a:ext cx="15304770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33" kern="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piece isn't information. It's practice — nobody feels the cost of a bad allocation until they make one with their own money.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723900"/>
            <a:ext cx="32187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SIMULATORS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66825"/>
            <a:ext cx="18021300" cy="834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79"/>
              </a:lnSpc>
              <a:buNone/>
            </a:pPr>
            <a:r>
              <a:rPr lang="en-US" sz="6150" b="1" spc="-154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learns to fly by reading about flying.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952500" y="3816846"/>
            <a:ext cx="8235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 TEACHING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4407396"/>
            <a:ext cx="77112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Lectures, textbooks, static cases, quizzes with a progress bar.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5580757"/>
            <a:ext cx="77112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recognise the vocabulary, never commit to a call, and nothing you get wrong costs you a rupee.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628507"/>
            <a:ext cx="77112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trading simulators do exist — priced far past any student.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24950" y="2063353"/>
            <a:ext cx="38100" cy="7118747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0" name="Text 8"/>
          <p:cNvSpPr/>
          <p:nvPr/>
        </p:nvSpPr>
        <p:spPr>
          <a:xfrm>
            <a:off x="9848850" y="3616821"/>
            <a:ext cx="8235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TRAINING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48850" y="4207371"/>
            <a:ext cx="77112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Computer-based training, then the simulator, then the aircraft.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848850" y="5380732"/>
            <a:ext cx="771125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simulator's value is consequence without risk: the engine fails, you respond, and the debrief points at what the instruments were already showing.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48850" y="6828532"/>
            <a:ext cx="77112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followed. Finance, outside the trading floor, largely hasn't.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0" y="9182100"/>
            <a:ext cx="18288000" cy="110490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9639300"/>
            <a:ext cx="190500" cy="1905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6" name="Text 14"/>
          <p:cNvSpPr/>
          <p:nvPr/>
        </p:nvSpPr>
        <p:spPr>
          <a:xfrm>
            <a:off x="1409700" y="9505950"/>
            <a:ext cx="1083848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spc="-30" kern="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Novus is that simulator, priced at a browser tab.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2D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762000"/>
            <a:ext cx="39542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7A0C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TEACHING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3115121"/>
            <a:ext cx="15304770" cy="240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172"/>
              </a:lnSpc>
              <a:buNone/>
            </a:pPr>
            <a:r>
              <a:rPr lang="en-US" sz="9900" b="1" spc="-346" kern="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first. Vocabulary second.</a:t>
            </a:r>
            <a:endParaRPr lang="en-US" sz="9900" dirty="0"/>
          </a:p>
        </p:txBody>
      </p:sp>
      <p:sp>
        <p:nvSpPr>
          <p:cNvPr id="5" name="Shape 3"/>
          <p:cNvSpPr/>
          <p:nvPr/>
        </p:nvSpPr>
        <p:spPr>
          <a:xfrm>
            <a:off x="952500" y="7536656"/>
            <a:ext cx="16383000" cy="381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7917656"/>
            <a:ext cx="5258562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 call plays out and costs you. Then — and only then — the game explains what it turned 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91300" y="7917656"/>
            <a:ext cx="5258562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concept card ever interrupts a decision. Teaching arrives after the outcome, pointing at numbers already on screen.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30100" y="7917656"/>
            <a:ext cx="5258562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is graded against a hidden truth, never the dice. A sound call that still defaulted stays sound.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574" r="574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091C">
                  <a:alpha val="90000"/>
                </a:srgbClr>
              </a:gs>
              <a:gs pos="26000">
                <a:srgbClr val="16091C">
                  <a:alpha val="28000"/>
                </a:srgbClr>
              </a:gs>
              <a:gs pos="55000">
                <a:srgbClr val="16091C">
                  <a:alpha val="75000"/>
                </a:srgbClr>
              </a:gs>
              <a:gs pos="72000">
                <a:srgbClr val="16091C">
                  <a:alpha val="100000"/>
                </a:srgbClr>
              </a:gs>
              <a:gs pos="100000">
                <a:srgbClr val="16091C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952500" y="7239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96479" y="723900"/>
            <a:ext cx="20242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WORLD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6076206"/>
            <a:ext cx="12573000" cy="9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527"/>
              </a:lnSpc>
              <a:buNone/>
            </a:pPr>
            <a:r>
              <a:rPr lang="en-US" sz="7200" b="1" spc="-216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city that runs on money.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952500" y="7391400"/>
            <a:ext cx="5156150" cy="5715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7658100"/>
            <a:ext cx="56717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WALKABLE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952500" y="8096250"/>
            <a:ext cx="531083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enterable venues — bank, exchange, fintech floor, academy, risk, payments, café, home — and scenery in between.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65850" y="7391400"/>
            <a:ext cx="5156150" cy="5715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1" name="Text 8"/>
          <p:cNvSpPr/>
          <p:nvPr/>
        </p:nvSpPr>
        <p:spPr>
          <a:xfrm>
            <a:off x="6565850" y="7658100"/>
            <a:ext cx="56717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TIMED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6565850" y="8096250"/>
            <a:ext cx="531083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runs 9:15 to 3:30 at one real second per game minute. Time is the pressure, not an energy bar.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2179201" y="7391400"/>
            <a:ext cx="5156150" cy="57150"/>
          </a:xfrm>
          <a:prstGeom prst="rect">
            <a:avLst/>
          </a:prstGeom>
          <a:solidFill>
            <a:srgbClr val="F7EEF3"/>
          </a:solidFill>
          <a:ln/>
        </p:spPr>
      </p:sp>
      <p:sp>
        <p:nvSpPr>
          <p:cNvPr id="14" name="Text 11"/>
          <p:cNvSpPr/>
          <p:nvPr/>
        </p:nvSpPr>
        <p:spPr>
          <a:xfrm>
            <a:off x="12179201" y="7658100"/>
            <a:ext cx="56717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POPULATED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2179201" y="8096250"/>
            <a:ext cx="531083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NPCs give advice that is confident and often wrong. Whose word is worth anything is something you work out.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723900"/>
            <a:ext cx="31872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DAY IN NOVUS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47775"/>
            <a:ext cx="1011389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strip, the whole state.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15449550" y="1638300"/>
            <a:ext cx="2074545" cy="4286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9:15 → 3:30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2600325"/>
            <a:ext cx="16383000" cy="1108770"/>
          </a:xfrm>
          <a:prstGeom prst="rect">
            <a:avLst/>
          </a:prstGeom>
          <a:solidFill>
            <a:srgbClr val="16091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90825"/>
            <a:ext cx="16002000" cy="7277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4280595"/>
            <a:ext cx="40652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952500" y="4699695"/>
            <a:ext cx="3806571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as whole paise, shown in lakh and crore through one formatter — never by hand.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5105400" y="4280595"/>
            <a:ext cx="40652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5105400" y="4699695"/>
            <a:ext cx="3806571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fill in blocky steps. There is no health bar, because nothing here is combat.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952500" y="6161038"/>
            <a:ext cx="40652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REPUTATION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952500" y="6580138"/>
            <a:ext cx="3806571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by sound calls, spent when you push a file through on a hunch.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5105400" y="6161038"/>
            <a:ext cx="40652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DAY ARC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105400" y="6580138"/>
            <a:ext cx="3806571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pixel sun crosses the trading day, so "half the day is gone" is something you see.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9486900" y="4280595"/>
            <a:ext cx="86334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· DAY ARC · CLOCK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9486900" y="4775895"/>
            <a:ext cx="7848600" cy="1413123"/>
          </a:xfrm>
          <a:prstGeom prst="rect">
            <a:avLst/>
          </a:prstGeom>
          <a:solidFill>
            <a:srgbClr val="16091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4985445"/>
            <a:ext cx="7429500" cy="99402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86900" y="6379518"/>
            <a:ext cx="808405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₹5,00,000 of the bank's money, the sun a third of the way across the trading day, and 9:06 on the clock — the three things every decision is weighed against.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685800"/>
            <a:ext cx="24392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THE BANK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09675"/>
            <a:ext cx="1005545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₹10,00,000 for four looms.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10467975" y="872282"/>
            <a:ext cx="6867525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weaving unit outside Surat, eleven years of history, never a missed payment. The export order is real; the buyer is not yet confirmed.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2589609"/>
            <a:ext cx="16383000" cy="5331619"/>
          </a:xfrm>
          <a:prstGeom prst="rect">
            <a:avLst/>
          </a:prstGeom>
          <a:solidFill>
            <a:srgbClr val="0E0710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589609"/>
            <a:ext cx="76200" cy="5331619"/>
          </a:xfrm>
          <a:prstGeom prst="rect">
            <a:avLst/>
          </a:prstGeom>
          <a:solidFill>
            <a:srgbClr val="FF2D7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780109"/>
            <a:ext cx="15887700" cy="495061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57300" y="7406878"/>
            <a:ext cx="15887700" cy="323850"/>
          </a:xfrm>
          <a:prstGeom prst="rect">
            <a:avLst/>
          </a:prstGeom>
          <a:gradFill rotWithShape="1">
            <a:gsLst>
              <a:gs pos="0">
                <a:srgbClr val="0E0710">
                  <a:alpha val="0"/>
                </a:srgbClr>
              </a:gs>
              <a:gs pos="90000">
                <a:srgbClr val="0E071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952500" y="8520113"/>
            <a:ext cx="525856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is real arithmetic. The debt-service cover is the whole decision.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591300" y="8520113"/>
            <a:ext cx="525856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assist off and the ratios are yours to work out — or unlock them with skills.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2230100" y="8520113"/>
            <a:ext cx="5258562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decline, or ask for collateral. The file is graded on why, not on what happened.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685800"/>
            <a:ext cx="33632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THE EXCHANGE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09675"/>
            <a:ext cx="981075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that ticks while you think.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10860405" y="1653332"/>
            <a:ext cx="6475095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invented companies across real sectors. Prices move every game minute: drift, noise, and the day's shock.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3114675"/>
            <a:ext cx="16383000" cy="4682282"/>
          </a:xfrm>
          <a:prstGeom prst="rect">
            <a:avLst/>
          </a:prstGeom>
          <a:solidFill>
            <a:srgbClr val="0E0710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3114675"/>
            <a:ext cx="76200" cy="4682282"/>
          </a:xfrm>
          <a:prstGeom prst="rect">
            <a:avLst/>
          </a:prstGeom>
          <a:solidFill>
            <a:srgbClr val="F2A7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9356" r="-9356" t="0" b="0"/>
          <a:stretch/>
        </p:blipFill>
        <p:spPr>
          <a:xfrm>
            <a:off x="1257300" y="3305175"/>
            <a:ext cx="15887700" cy="43012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2500" y="8139857"/>
            <a:ext cx="56159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SEEDED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952500" y="8558957"/>
            <a:ext cx="525856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save resumes bit-for-bit, so the same day can be replayed and compared.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6591300" y="8139857"/>
            <a:ext cx="56159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SHOCKED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6591300" y="8558957"/>
            <a:ext cx="5258562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rate hike, infrastructure news, a fraud headline — each lifts some sectors and leaves the rest to noise.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12230100" y="8139857"/>
            <a:ext cx="56159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88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FICTIONAL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12230100" y="8558957"/>
            <a:ext cx="525856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tradable is a real ticker. A learning game with real tickers is advice.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723900"/>
            <a:ext cx="41931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EDUCATION LAYER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47775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pieces, none of them a quiz wall.</a:t>
            </a:r>
            <a:endParaRPr lang="en-US" sz="6150" dirty="0"/>
          </a:p>
        </p:txBody>
      </p:sp>
      <p:sp>
        <p:nvSpPr>
          <p:cNvPr id="5" name="Shape 3"/>
          <p:cNvSpPr/>
          <p:nvPr/>
        </p:nvSpPr>
        <p:spPr>
          <a:xfrm>
            <a:off x="952500" y="3298924"/>
            <a:ext cx="5054501" cy="381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527524"/>
            <a:ext cx="5559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LEDGER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3927574"/>
            <a:ext cx="5206136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concept cards — debt-service cover, cash vs. profit, leverage, drift and shock — unlocked when you meet them.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616601" y="3298924"/>
            <a:ext cx="5054650" cy="381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9" name="Text 7"/>
          <p:cNvSpPr/>
          <p:nvPr/>
        </p:nvSpPr>
        <p:spPr>
          <a:xfrm>
            <a:off x="6616601" y="3527524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PREDICT, THEN REVEAL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616601" y="3927574"/>
            <a:ext cx="5206289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read is graded against the truth and echoed back on the outcome screen. Recall, not recognition.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2280850" y="3298924"/>
            <a:ext cx="5054650" cy="3810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0850" y="3527524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DAY-END DEBRIEF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280850" y="3927574"/>
            <a:ext cx="5206289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teaching sentence about the day, plus a mistake log that names repeated patterns: churn, a concentrated book, unsound calls.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52500" y="5837932"/>
            <a:ext cx="5054501" cy="381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6066532"/>
            <a:ext cx="55599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 MODULES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52500" y="6466582"/>
            <a:ext cx="5206136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mini-courses with a short check at the end. 60% to pass, retakeable, blocks nothing.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6616601" y="5837932"/>
            <a:ext cx="5054650" cy="381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8" name="Text 16"/>
          <p:cNvSpPr/>
          <p:nvPr/>
        </p:nvSpPr>
        <p:spPr>
          <a:xfrm>
            <a:off x="6616601" y="6066532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CASEBOOK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616601" y="6466582"/>
            <a:ext cx="5206289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concluded real events — Satyam, IL&amp;FS, the PNB letters of undertaking, 1992, Kingfisher, 2008 — as study material with sources.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2280850" y="5837932"/>
            <a:ext cx="5054650" cy="381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1" name="Text 19"/>
          <p:cNvSpPr/>
          <p:nvPr/>
        </p:nvSpPr>
        <p:spPr>
          <a:xfrm>
            <a:off x="12280850" y="6066532"/>
            <a:ext cx="5560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5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DRILLS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280850" y="6466582"/>
            <a:ext cx="5206289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exercises with no city, clock or save: five files back to back, build a book, spot the shock.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52500" y="9227939"/>
            <a:ext cx="180213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are built and deployed — and none of them interrupt a decision.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510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6479" y="685800"/>
            <a:ext cx="23574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09675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transcript, not a high score.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952500" y="3992017"/>
            <a:ext cx="8606021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closes with a debrief, and everything it records lands in one running record: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5132933"/>
            <a:ext cx="919089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concepts met and understood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5637758"/>
            <a:ext cx="919089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record + risk-read accuracy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6142583"/>
            <a:ext cx="919089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call · worst call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" y="6647408"/>
            <a:ext cx="919089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 passed · mistakes logged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7285583"/>
            <a:ext cx="860602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Copyable as plain text. A cohort view exists for classroom use, and certificates are issued off the transcript — never off cash earned.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069860" y="2371725"/>
            <a:ext cx="7265491" cy="7305675"/>
          </a:xfrm>
          <a:prstGeom prst="rect">
            <a:avLst/>
          </a:prstGeom>
          <a:solidFill>
            <a:srgbClr val="0E071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69860" y="2371725"/>
            <a:ext cx="7265491" cy="76200"/>
          </a:xfrm>
          <a:prstGeom prst="rect">
            <a:avLst/>
          </a:prstGeom>
          <a:solidFill>
            <a:srgbClr val="FF2D7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11014472" y="2638425"/>
            <a:ext cx="5376118" cy="6848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4820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7904" y="723900"/>
            <a:ext cx="31558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47775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kept apart.</a:t>
            </a:r>
            <a:endParaRPr lang="en-US" sz="6150" dirty="0"/>
          </a:p>
        </p:txBody>
      </p:sp>
      <p:sp>
        <p:nvSpPr>
          <p:cNvPr id="5" name="Shape 3"/>
          <p:cNvSpPr/>
          <p:nvPr/>
        </p:nvSpPr>
        <p:spPr>
          <a:xfrm>
            <a:off x="952500" y="3067645"/>
            <a:ext cx="16383000" cy="127635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10558"/>
            <a:ext cx="2305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sim/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8100" y="3334345"/>
            <a:ext cx="65339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rules, money and randomness. Plain deterministic TypeScript.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648950" y="3359200"/>
            <a:ext cx="653396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never import React or Phaser, or call Math.random — seeded RNG only.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439245"/>
            <a:ext cx="16383000" cy="1226641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857304"/>
            <a:ext cx="2305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world/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8100" y="4866829"/>
            <a:ext cx="69780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 draws the city and moves the player.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648950" y="4705945"/>
            <a:ext cx="653396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nothing about money, and reaches the app through one bridge file.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5761137"/>
            <a:ext cx="16383000" cy="1276350"/>
          </a:xfrm>
          <a:prstGeom prst="rect">
            <a:avLst/>
          </a:prstGeom>
          <a:solidFill>
            <a:srgbClr val="F7EEF3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204049"/>
            <a:ext cx="2305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8100" y="6027837"/>
            <a:ext cx="65339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shows state and sends actions. No arithmetic of its own.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648950" y="6052691"/>
            <a:ext cx="653396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meets at one store — which is what leaves multiplayer possible later.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8076307"/>
            <a:ext cx="16383000" cy="38100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8400157"/>
            <a:ext cx="180213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 · React 19 · TypeScript (strict) · Tailwind v4 · Phaser 4 · Zustand · Supabase (optional)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2500" y="8919270"/>
            <a:ext cx="1687449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Art: Kenney RPG Urban (CC0). The optional AI layer rephrases case wording only — never a number, a grade or a lesson, and every path has written fallback text.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4534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9329" y="723900"/>
            <a:ext cx="17037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47775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34"/>
              </a:lnSpc>
              <a:buNone/>
            </a:pPr>
            <a:r>
              <a:rPr lang="en-US" sz="6150" b="1" spc="-154" kern="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city finished, not five started.</a:t>
            </a:r>
            <a:endParaRPr lang="en-US" sz="6150" dirty="0"/>
          </a:p>
        </p:txBody>
      </p:sp>
      <p:sp>
        <p:nvSpPr>
          <p:cNvPr id="5" name="Shape 3"/>
          <p:cNvSpPr/>
          <p:nvPr/>
        </p:nvSpPr>
        <p:spPr>
          <a:xfrm>
            <a:off x="952500" y="6727478"/>
            <a:ext cx="4095750" cy="781050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6956078"/>
            <a:ext cx="1446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350990" y="6965603"/>
            <a:ext cx="487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48250" y="6727478"/>
            <a:ext cx="4095750" cy="78105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6956078"/>
            <a:ext cx="8984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49430" y="6965603"/>
            <a:ext cx="16597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0" y="6727478"/>
            <a:ext cx="4095750" cy="78105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2" name="Text 10"/>
          <p:cNvSpPr/>
          <p:nvPr/>
        </p:nvSpPr>
        <p:spPr>
          <a:xfrm>
            <a:off x="9429750" y="6956078"/>
            <a:ext cx="8675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856690" y="6965603"/>
            <a:ext cx="1173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39750" y="6727478"/>
            <a:ext cx="4095750" cy="781050"/>
          </a:xfrm>
          <a:prstGeom prst="rect">
            <a:avLst/>
          </a:prstGeom>
          <a:solidFill>
            <a:srgbClr val="DED0D9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0" y="6956078"/>
            <a:ext cx="10111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992350" y="6965603"/>
            <a:ext cx="2263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architected for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7775228"/>
            <a:ext cx="3837623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city, the market, credit cases, the education layer and cloud save. Sixteen build steps and a redesign pass, deployed.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5048250" y="7775228"/>
            <a:ext cx="3837623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beyond loan files, the three unbuilt interiors, and a source pass before the Casebook counts as final.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144000" y="7775228"/>
            <a:ext cx="3837623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 past the intern stage — trader, banker, risk, CFO — and a cohort mode for classroom pilots.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3239750" y="7775228"/>
            <a:ext cx="4218623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 over sockets, a mobile layout, options and futures. Deliberately not built yet.</a:t>
            </a:r>
            <a:endParaRPr lang="en-US" sz="21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574" r="574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091C">
                  <a:alpha val="96000"/>
                </a:srgbClr>
              </a:gs>
              <a:gs pos="50000">
                <a:srgbClr val="16091C">
                  <a:alpha val="86000"/>
                </a:srgbClr>
              </a:gs>
              <a:gs pos="100000">
                <a:srgbClr val="16091C">
                  <a:alpha val="97000"/>
                </a:srgbClr>
              </a:gs>
            </a:gsLst>
            <a:lin ang="54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952500" y="804863"/>
            <a:ext cx="209550" cy="20955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762000"/>
            <a:ext cx="14334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F7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NOVUS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2968228"/>
            <a:ext cx="18021300" cy="1219944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134704" dir="2700000">
              <a:srgbClr val="FF2D78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172"/>
              </a:lnSpc>
              <a:buNone/>
            </a:pPr>
            <a:r>
              <a:rPr lang="en-US" sz="9900" b="1" spc="-346" kern="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a day of it.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952500" y="4531072"/>
            <a:ext cx="11576685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loan call, hold a position through a rate hike, and read the debrief. Five minutes in the browser makes the argument better than this deck can.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952500" y="5837783"/>
            <a:ext cx="2781300" cy="866775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6085433"/>
            <a:ext cx="20265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225" kern="0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NOW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4038600" y="6490246"/>
            <a:ext cx="4937820" cy="1905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4038600" y="6033046"/>
            <a:ext cx="54316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u="sng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game.akshatchowdhary.online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52500" y="8615363"/>
            <a:ext cx="16383000" cy="19050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13" name="Text 10"/>
          <p:cNvSpPr/>
          <p:nvPr/>
        </p:nvSpPr>
        <p:spPr>
          <a:xfrm>
            <a:off x="952500" y="9258300"/>
            <a:ext cx="7606829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FF7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PLAYER · PLAYS IN THE BROWSER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9683115" y="8920163"/>
            <a:ext cx="765238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educational simulation. The playable market, borrowers and events are fictional; nothing here is investment advice.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2026-10-17T13:49:30Z</dcterms:created>
  <dcterms:modified xsi:type="dcterms:W3CDTF">2026-10-17T13:49:30Z</dcterms:modified>
</cp:coreProperties>
</file>