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 statement" id="{d6317b4b-d400-3fac-47b5-7f5cedfa1882}">
          <p14:sldIdLst>
            <p14:sldId id="256"/>
          </p14:sldIdLst>
        </p14:section>
        <p14:section name="Proposed solution" id="{6b3998fd-b00d-86d3-3880-a46d803e728d}">
          <p14:sldIdLst>
            <p14:sldId id="257"/>
          </p14:sldIdLst>
        </p14:section>
        <p14:section name="Target users or use case" id="{c8e865c2-c94f-cd3d-ff54-869cebf673ea}">
          <p14:sldIdLst>
            <p14:sldId id="258"/>
          </p14:sldIdLst>
        </p14:section>
        <p14:section name="Role of Machine Learning or AI" id="{8d8986d9-6d37-e9de-b643-0a871cc9b6af}">
          <p14:sldIdLst>
            <p14:sldId id="259"/>
          </p14:sldIdLst>
        </p14:section>
        <p14:section name="Proposed technical approach" id="{fa186401-e235-abdd-2335-e270070c268f}">
          <p14:sldIdLst>
            <p14:sldId id="260"/>
          </p14:sldIdLst>
        </p14:section>
        <p14:section name="Proposed TinyFish integration" id="{4dbcd616-ae9a-f132-9d45-455d76762707}">
          <p14:sldIdLst>
            <p14:sldId id="261"/>
          </p14:sldIdLst>
        </p14:section>
        <p14:section name="Expected impact" id="{b5838a77-f6cf-7405-6572-a3d2afeff33d}">
          <p14:sldIdLst>
            <p14:sldId id="262"/>
          </p14:sldIdLst>
        </p14:section>
        <p14:section name="Feasibility" id="{2b79d7b7-76b1-ec2a-3520-bb3089cb7c79}">
          <p14:sldIdLst>
            <p14:sldId id="263"/>
          </p14:sldIdLst>
        </p14:section>
        <p14:section name="Future scope" id="{400e8ef9-9245-d2ef-e105-045538c90a81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crore accounts, 27% literacy. The missing piece is practice with consequences, and the outcome bias nobody trains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desks, one city — and the single claim the product rests on: a sound call that defaulted is still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practise, teachers see habits, and the transcript is the thing that leaves the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where a number is produced, AI where language is read or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layer rule is why the market is testable and why a save replays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uses, two of which fix problems already written down in the repo: unsourced Casebook figures, and getting results into college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is the record and the teacher view, not a user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risks: unsourced case figures, no mobile layout, no tests. Everything else is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Near-term work is content and polish; the longer bets are the classroom pilot and the growing case library. Close by opening the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b="1" spc="3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r>
              <a:rPr lang="en-US" sz="1900" b="1" spc="3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0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4A3A5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b="1" spc="3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r>
              <a:rPr lang="en-US" sz="1900" b="1" spc="3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C9B6C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60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103120"/>
            <a:ext cx="80467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6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5852160"/>
            <a:ext cx="8046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3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3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4A3A5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pPr indent="0" marL="0">
              <a:buNone/>
            </a:pPr>
            <a:r>
              <a:rPr lang="en-US" sz="1900" b="1" spc="3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opened 26 crore trading accounts. Nobody opened a practice account.</a:t>
            </a:r>
            <a:endParaRPr lang="en-US" sz="2800" dirty="0"/>
          </a:p>
        </p:txBody>
      </p:sp>
      <p:sp>
        <p:nvSpPr>
          <p:cNvPr id="5" name="stat 26 cr"/>
          <p:cNvSpPr/>
          <p:nvPr/>
        </p:nvSpPr>
        <p:spPr>
          <a:xfrm>
            <a:off x="914400" y="3566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cr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accounts on the NSE, June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394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crore was added in under four months. Demat accounts stand at 23.4 crore.</a:t>
            </a:r>
            <a:endParaRPr lang="en-US" sz="1500" dirty="0"/>
          </a:p>
        </p:txBody>
      </p:sp>
      <p:sp>
        <p:nvSpPr>
          <p:cNvPr id="8" name="divider"/>
          <p:cNvSpPr/>
          <p:nvPr/>
        </p:nvSpPr>
        <p:spPr>
          <a:xfrm>
            <a:off x="8778240" y="3474720"/>
            <a:ext cx="27432" cy="3749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9" name="stat 27%"/>
          <p:cNvSpPr/>
          <p:nvPr/>
        </p:nvSpPr>
        <p:spPr>
          <a:xfrm>
            <a:off x="9509760" y="35661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9509760" y="4937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adults are financially literate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0" y="5394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urban, 24% rural. NCFE Financial Literacy and Inclusion Survey, 2019.</a:t>
            </a:r>
            <a:endParaRPr lang="en-US" sz="1500" dirty="0"/>
          </a:p>
        </p:txBody>
      </p:sp>
      <p:sp>
        <p:nvSpPr>
          <p:cNvPr id="12" name="problem statement"/>
          <p:cNvSpPr/>
          <p:nvPr/>
        </p:nvSpPr>
        <p:spPr>
          <a:xfrm>
            <a:off x="914400" y="7589520"/>
            <a:ext cx="1645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not information. It is practice</a:t>
            </a:r>
            <a:pPr indent="0" marL="0">
              <a:buNone/>
            </a:pPr>
            <a:r>
              <a:rPr lang="en-US" sz="24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one habit nobody corrects: judging a decision by how it turned out instead of by what was knowable when it was made. A lucky bet is filed as skill, a sound call that lost money is filed as a mistake, and the lesson lands upside down. Institutional trading simulators teach the difference; they are priced far past any student.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C9B6C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pPr indent="0" marL="0">
              <a:buNone/>
            </a:pPr>
            <a:r>
              <a:rPr lang="en-US" sz="1900" b="1" spc="3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trading floor you can open in a browser tab — graded on reasoning, never on luck.</a:t>
            </a:r>
            <a:endParaRPr lang="en-US" sz="2800" dirty="0"/>
          </a:p>
        </p:txBody>
      </p:sp>
      <p:sp>
        <p:nvSpPr>
          <p:cNvPr id="5" name="THE BANK label"/>
          <p:cNvSpPr/>
          <p:nvPr/>
        </p:nvSpPr>
        <p:spPr>
          <a:xfrm>
            <a:off x="914400" y="3291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BANK</a:t>
            </a:r>
            <a:endParaRPr lang="en-US" sz="1600" dirty="0"/>
          </a:p>
        </p:txBody>
      </p:sp>
      <p:sp>
        <p:nvSpPr>
          <p:cNvPr id="6" name="THE BANK body"/>
          <p:cNvSpPr/>
          <p:nvPr/>
        </p:nvSpPr>
        <p:spPr>
          <a:xfrm>
            <a:off x="914400" y="379476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loan files on real figures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cash flow, debt, collateral, a credit score. Commit a risk read, then approve, cut, lend against collateral, or reject.</a:t>
            </a:r>
            <a:endParaRPr lang="en-US" sz="2100" dirty="0"/>
          </a:p>
        </p:txBody>
      </p:sp>
      <p:sp>
        <p:nvSpPr>
          <p:cNvPr id="7" name="THE EXCHANGE label"/>
          <p:cNvSpPr/>
          <p:nvPr/>
        </p:nvSpPr>
        <p:spPr>
          <a:xfrm>
            <a:off x="914400" y="49377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EXCHANGE</a:t>
            </a:r>
            <a:endParaRPr lang="en-US" sz="1600" dirty="0"/>
          </a:p>
        </p:txBody>
      </p:sp>
      <p:sp>
        <p:nvSpPr>
          <p:cNvPr id="8" name="THE EXCHANGE body"/>
          <p:cNvSpPr/>
          <p:nvPr/>
        </p:nvSpPr>
        <p:spPr>
          <a:xfrm>
            <a:off x="914400" y="544068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 market that ticks every second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invented companies. Every move splits into drift, noise and news, so you can see what was signal.</a:t>
            </a:r>
            <a:endParaRPr lang="en-US" sz="2100" dirty="0"/>
          </a:p>
        </p:txBody>
      </p:sp>
      <p:sp>
        <p:nvSpPr>
          <p:cNvPr id="9" name="RISK &amp;amp; COMPLIANCE label"/>
          <p:cNvSpPr/>
          <p:nvPr/>
        </p:nvSpPr>
        <p:spPr>
          <a:xfrm>
            <a:off x="914400" y="6583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&amp; COMPLIANCE</a:t>
            </a:r>
            <a:endParaRPr lang="en-US" sz="1600" dirty="0"/>
          </a:p>
        </p:txBody>
      </p:sp>
      <p:sp>
        <p:nvSpPr>
          <p:cNvPr id="10" name="RISK &amp; COMPLIANCE body"/>
          <p:cNvSpPr/>
          <p:nvPr/>
        </p:nvSpPr>
        <p:spPr>
          <a:xfrm>
            <a:off x="914400" y="70866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tells in a set of accounts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warning signs among decoys that only look odd. Each file echoes a collapse the game names afterwards.</a:t>
            </a:r>
            <a:endParaRPr lang="en-US" sz="2100" dirty="0"/>
          </a:p>
        </p:txBody>
      </p:sp>
      <p:sp>
        <p:nvSpPr>
          <p:cNvPr id="11" name="THE ACADEMY label"/>
          <p:cNvSpPr/>
          <p:nvPr/>
        </p:nvSpPr>
        <p:spPr>
          <a:xfrm>
            <a:off x="914400" y="82296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ACADEMY</a:t>
            </a:r>
            <a:endParaRPr lang="en-US" sz="1600" dirty="0"/>
          </a:p>
        </p:txBody>
      </p:sp>
      <p:sp>
        <p:nvSpPr>
          <p:cNvPr id="12" name="THE ACADEMY body"/>
          <p:cNvSpPr/>
          <p:nvPr/>
        </p:nvSpPr>
        <p:spPr>
          <a:xfrm>
            <a:off x="914400" y="873252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Practise, and keep the record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Modules, drills, replays of Satyam and IL&amp;FS, and a transcript anyone can verify with a code.</a:t>
            </a:r>
            <a:endParaRPr lang="en-US" sz="2100" dirty="0"/>
          </a:p>
        </p:txBody>
      </p:sp>
      <p:sp>
        <p:nvSpPr>
          <p:cNvPr id="13" name="shot edge"/>
          <p:cNvSpPr/>
          <p:nvPr/>
        </p:nvSpPr>
        <p:spPr>
          <a:xfrm>
            <a:off x="9418320" y="3200400"/>
            <a:ext cx="64008" cy="5650992"/>
          </a:xfrm>
          <a:prstGeom prst="rect">
            <a:avLst/>
          </a:prstGeom>
          <a:solidFill>
            <a:srgbClr val="FF2D78"/>
          </a:solidFill>
          <a:ln/>
        </p:spPr>
      </p:sp>
      <p:pic>
        <p:nvPicPr>
          <p:cNvPr id="14" name="04-sound-call" descr="/home/gingersnaps/Documents/rpgs/novus/docs/screenshots/04-sound-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28" y="3200400"/>
            <a:ext cx="6217920" cy="5650992"/>
          </a:xfrm>
          <a:prstGeom prst="rect">
            <a:avLst/>
          </a:prstGeom>
        </p:spPr>
      </p:pic>
      <p:sp>
        <p:nvSpPr>
          <p:cNvPr id="15" name="claim note"/>
          <p:cNvSpPr/>
          <p:nvPr/>
        </p:nvSpPr>
        <p:spPr>
          <a:xfrm>
            <a:off x="9418320" y="90068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Anand Dairy: an 8% risk file, correctly approved, that defaulted anyway. </a:t>
            </a:r>
            <a:pPr indent="0" marL="0">
              <a:buNone/>
            </a:pPr>
            <a:r>
              <a:rPr lang="en-US" sz="15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file has a hidden risk and the outcome is a roll against it — the call is scored against the risk, never the roll. Seeded, so a class can replay the same day and argue about the same decision.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4A3A5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or use case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pPr indent="0" marL="0">
              <a:buNone/>
            </a:pPr>
            <a:r>
              <a:rPr lang="en-US" sz="1900" b="1" spc="3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people, one record.</a:t>
            </a:r>
            <a:endParaRPr lang="en-US" sz="2800" dirty="0"/>
          </a:p>
        </p:txBody>
      </p:sp>
      <p:sp>
        <p:nvSpPr>
          <p:cNvPr id="5" name="STUDENTS label"/>
          <p:cNvSpPr/>
          <p:nvPr/>
        </p:nvSpPr>
        <p:spPr>
          <a:xfrm>
            <a:off x="9144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600" dirty="0"/>
          </a:p>
        </p:txBody>
      </p:sp>
      <p:sp>
        <p:nvSpPr>
          <p:cNvPr id="6" name="STUDENTS body"/>
          <p:cNvSpPr/>
          <p:nvPr/>
        </p:nvSpPr>
        <p:spPr>
          <a:xfrm>
            <a:off x="914400" y="38862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and finance undergraduates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have the vocabulary and no reps. Novus gives them decisions with consequences before the first salary arrives.</a:t>
            </a:r>
            <a:endParaRPr lang="en-US" sz="2100" dirty="0"/>
          </a:p>
        </p:txBody>
      </p:sp>
      <p:sp>
        <p:nvSpPr>
          <p:cNvPr id="7" name="TEACHERS AND COLLEGES label"/>
          <p:cNvSpPr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TEACHERS AND COLLEGES</a:t>
            </a:r>
            <a:endParaRPr lang="en-US" sz="1600" dirty="0"/>
          </a:p>
        </p:txBody>
      </p:sp>
      <p:sp>
        <p:nvSpPr>
          <p:cNvPr id="8" name="TEACHERS AND COLLEGES body"/>
          <p:cNvSpPr/>
          <p:nvPr/>
        </p:nvSpPr>
        <p:spPr>
          <a:xfrm>
            <a:off x="6583680" y="38862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class, set work, and a habit report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class, share a join code, set drills with due dates, and open one screen that says what the class is getting wrong.</a:t>
            </a:r>
            <a:endParaRPr lang="en-US" sz="2100" dirty="0"/>
          </a:p>
        </p:txBody>
      </p:sp>
      <p:sp>
        <p:nvSpPr>
          <p:cNvPr id="9" name="FIRST-TIME INVESTORS label"/>
          <p:cNvSpPr/>
          <p:nvPr/>
        </p:nvSpPr>
        <p:spPr>
          <a:xfrm>
            <a:off x="1225296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FIRST-TIME INVESTORS</a:t>
            </a:r>
            <a:endParaRPr lang="en-US" sz="1600" dirty="0"/>
          </a:p>
        </p:txBody>
      </p:sp>
      <p:sp>
        <p:nvSpPr>
          <p:cNvPr id="10" name="FIRST-TIME INVESTORS body"/>
          <p:cNvSpPr/>
          <p:nvPr/>
        </p:nvSpPr>
        <p:spPr>
          <a:xfrm>
            <a:off x="12252960" y="38862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before real money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that moves for reasons you can inspect, and a day-end debrief that names the mistake.</a:t>
            </a:r>
            <a:endParaRPr lang="en-US" sz="2100" dirty="0"/>
          </a:p>
        </p:txBody>
      </p:sp>
      <p:sp>
        <p:nvSpPr>
          <p:cNvPr id="11" name="divider"/>
          <p:cNvSpPr/>
          <p:nvPr/>
        </p:nvSpPr>
        <p:spPr>
          <a:xfrm>
            <a:off x="6263640" y="3291840"/>
            <a:ext cx="27432" cy="292608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2" name="divider"/>
          <p:cNvSpPr/>
          <p:nvPr/>
        </p:nvSpPr>
        <p:spPr>
          <a:xfrm>
            <a:off x="11932920" y="3291840"/>
            <a:ext cx="27432" cy="292608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3" name="shot edge"/>
          <p:cNvSpPr/>
          <p:nvPr/>
        </p:nvSpPr>
        <p:spPr>
          <a:xfrm>
            <a:off x="914400" y="5943600"/>
            <a:ext cx="64008" cy="4114800"/>
          </a:xfrm>
          <a:prstGeom prst="rect">
            <a:avLst/>
          </a:prstGeom>
          <a:solidFill>
            <a:srgbClr val="FF2D78"/>
          </a:solidFill>
          <a:ln/>
        </p:spPr>
      </p:sp>
      <p:pic>
        <p:nvPicPr>
          <p:cNvPr id="14" name="12-teacher-dashboard" descr="/home/gingersnaps/Documents/rpgs/novus/docs/screenshots/12-teache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5943600"/>
            <a:ext cx="7315200" cy="4114800"/>
          </a:xfrm>
          <a:prstGeom prst="rect">
            <a:avLst/>
          </a:prstGeom>
        </p:spPr>
      </p:pic>
      <p:sp>
        <p:nvSpPr>
          <p:cNvPr id="15" name="THE USE CASE label"/>
          <p:cNvSpPr/>
          <p:nvPr/>
        </p:nvSpPr>
        <p:spPr>
          <a:xfrm>
            <a:off x="9509760" y="6035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USE CASE</a:t>
            </a:r>
            <a:endParaRPr lang="en-US" sz="1600" dirty="0"/>
          </a:p>
        </p:txBody>
      </p:sp>
      <p:sp>
        <p:nvSpPr>
          <p:cNvPr id="16" name="THE USE CASE body"/>
          <p:cNvSpPr/>
          <p:nvPr/>
        </p:nvSpPr>
        <p:spPr>
          <a:xfrm>
            <a:off x="9509760" y="6537960"/>
            <a:ext cx="7772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term, one class, one artifact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plays through a week of decisions. The teacher sees the habits the game logged, not a quiz score — who is late, who has not started, and what at least a quarter of the class keeps getting wrong.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the student issues a transcript, and anyone — a recruiter, a parent, the college — can verify it with a code, in a browser, with no sign-in.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C9B6C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Machine Learning or AI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pPr indent="0" marL="0">
              <a:buNone/>
            </a:pPr>
            <a:r>
              <a:rPr lang="en-US" sz="1900" b="1" spc="3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grade stays deterministic. The AI reads and writes.</a:t>
            </a:r>
            <a:endParaRPr lang="en-US" sz="2800" dirty="0"/>
          </a:p>
        </p:txBody>
      </p:sp>
      <p:sp>
        <p:nvSpPr>
          <p:cNvPr id="5" name="WHAT STAYS RULES-BASED label"/>
          <p:cNvSpPr/>
          <p:nvPr/>
        </p:nvSpPr>
        <p:spPr>
          <a:xfrm>
            <a:off x="91440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STAYS RULES-BASED</a:t>
            </a:r>
            <a:endParaRPr lang="en-US" sz="1600" dirty="0"/>
          </a:p>
        </p:txBody>
      </p:sp>
      <p:sp>
        <p:nvSpPr>
          <p:cNvPr id="6" name="WHAT STAYS RULES-BASED body"/>
          <p:cNvSpPr/>
          <p:nvPr/>
        </p:nvSpPr>
        <p:spPr>
          <a:xfrm>
            <a:off x="914400" y="3886200"/>
            <a:ext cx="7589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produces a number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scoring, market ticks and the day-end report are plain, seeded TypeScript. No model touches them.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assessment you cannot reproduce is not an assessment: a transcript has to mean the same thing twice, and a class has to be able to replay the same day and get the same result.</a:t>
            </a:r>
            <a:endParaRPr lang="en-US" sz="2100" dirty="0"/>
          </a:p>
        </p:txBody>
      </p:sp>
      <p:sp>
        <p:nvSpPr>
          <p:cNvPr id="7" name="divider"/>
          <p:cNvSpPr/>
          <p:nvPr/>
        </p:nvSpPr>
        <p:spPr>
          <a:xfrm>
            <a:off x="8778240" y="3291840"/>
            <a:ext cx="27432" cy="60350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8" name="LIVE TODAY  ·  WORDING ONLY label"/>
          <p:cNvSpPr/>
          <p:nvPr/>
        </p:nvSpPr>
        <p:spPr>
          <a:xfrm>
            <a:off x="950976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TODAY  ·  WORDING ONLY</a:t>
            </a:r>
            <a:endParaRPr lang="en-US" sz="1600" dirty="0"/>
          </a:p>
        </p:txBody>
      </p:sp>
      <p:sp>
        <p:nvSpPr>
          <p:cNvPr id="9" name="LIVE TODAY  ·  WORDING ONLY body"/>
          <p:cNvSpPr/>
          <p:nvPr/>
        </p:nvSpPr>
        <p:spPr>
          <a:xfrm>
            <a:off x="9509760" y="38862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may rephrase a write-up, never produce a figure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gets numbers the simulation already computed, invents nothing, and every path has written fallback text if the model is off or slow.</a:t>
            </a:r>
            <a:endParaRPr lang="en-US" sz="2100" dirty="0"/>
          </a:p>
        </p:txBody>
      </p:sp>
      <p:sp>
        <p:nvSpPr>
          <p:cNvPr id="10" name="PROPOSED  ·  GRADE THE REASON label"/>
          <p:cNvSpPr/>
          <p:nvPr/>
        </p:nvSpPr>
        <p:spPr>
          <a:xfrm>
            <a:off x="9509760" y="5486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 ·  GRADE THE REASON</a:t>
            </a:r>
            <a:endParaRPr lang="en-US" sz="1600" dirty="0"/>
          </a:p>
        </p:txBody>
      </p:sp>
      <p:sp>
        <p:nvSpPr>
          <p:cNvPr id="11" name="PROPOSED  ·  GRADE THE REASON body"/>
          <p:cNvSpPr/>
          <p:nvPr/>
        </p:nvSpPr>
        <p:spPr>
          <a:xfrm>
            <a:off x="9509760" y="5989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already type one line of why before they decide. It is stored and ungraded. A model can score that sentence against the drivers the file actually had.</a:t>
            </a:r>
            <a:endParaRPr lang="en-US" sz="2100" dirty="0"/>
          </a:p>
        </p:txBody>
      </p:sp>
      <p:sp>
        <p:nvSpPr>
          <p:cNvPr id="12" name="PROPOSED  ·  PREDICT THE NEXT SLIP label"/>
          <p:cNvSpPr/>
          <p:nvPr/>
        </p:nvSpPr>
        <p:spPr>
          <a:xfrm>
            <a:off x="9509760" y="7086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 ·  PREDICT THE NEXT SLIP</a:t>
            </a:r>
            <a:endParaRPr lang="en-US" sz="1600" dirty="0"/>
          </a:p>
        </p:txBody>
      </p:sp>
      <p:sp>
        <p:nvSpPr>
          <p:cNvPr id="13" name="PROPOSED  ·  PREDICT THE NEXT SLIP body"/>
          <p:cNvSpPr/>
          <p:nvPr/>
        </p:nvSpPr>
        <p:spPr>
          <a:xfrm>
            <a:off x="9509760" y="75895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attempt log keeps every try, not just the best. A model over that log can tell a teacher which concept a student is about to fail.</a:t>
            </a:r>
            <a:endParaRPr lang="en-US" sz="2100" dirty="0"/>
          </a:p>
        </p:txBody>
      </p:sp>
      <p:sp>
        <p:nvSpPr>
          <p:cNvPr id="14" name="PROPOSED  ·  AGENTS THAT SOURCE FACTS label"/>
          <p:cNvSpPr/>
          <p:nvPr/>
        </p:nvSpPr>
        <p:spPr>
          <a:xfrm>
            <a:off x="9509760" y="8686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 ·  AGENTS THAT SOURCE FACTS</a:t>
            </a:r>
            <a:endParaRPr lang="en-US" sz="1600" dirty="0"/>
          </a:p>
        </p:txBody>
      </p:sp>
      <p:sp>
        <p:nvSpPr>
          <p:cNvPr id="15" name="PROPOSED  ·  AGENTS THAT SOURCE FACTS body"/>
          <p:cNvSpPr/>
          <p:nvPr/>
        </p:nvSpPr>
        <p:spPr>
          <a:xfrm>
            <a:off x="9509760" y="9189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agents gather and verify the real-case material the Casebook is built on — the next slide.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4A3A5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technical approach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pPr indent="0" marL="0">
              <a:buNone/>
            </a:pPr>
            <a:r>
              <a:rPr lang="en-US" sz="1900" b="1" spc="3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that cannot reach into each other.</a:t>
            </a:r>
            <a:endParaRPr lang="en-US" sz="2800" dirty="0"/>
          </a:p>
        </p:txBody>
      </p:sp>
      <p:sp>
        <p:nvSpPr>
          <p:cNvPr id="5" name="layer sim/"/>
          <p:cNvSpPr/>
          <p:nvPr/>
        </p:nvSpPr>
        <p:spPr>
          <a:xfrm>
            <a:off x="914400" y="3383280"/>
            <a:ext cx="10424160" cy="1325880"/>
          </a:xfrm>
          <a:prstGeom prst="rect">
            <a:avLst/>
          </a:prstGeom>
          <a:solidFill>
            <a:srgbClr val="E9DCE4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338328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sim/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91840" y="338328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rules, money and randomness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never import React, Phaser or fetch, and may never call Math.random — the seeded generator only.</a:t>
            </a:r>
            <a:endParaRPr lang="en-US" sz="2000" dirty="0"/>
          </a:p>
        </p:txBody>
      </p:sp>
      <p:sp>
        <p:nvSpPr>
          <p:cNvPr id="8" name="layer world/"/>
          <p:cNvSpPr/>
          <p:nvPr/>
        </p:nvSpPr>
        <p:spPr>
          <a:xfrm>
            <a:off x="914400" y="4983480"/>
            <a:ext cx="10424160" cy="1325880"/>
          </a:xfrm>
          <a:prstGeom prst="rect">
            <a:avLst/>
          </a:prstGeom>
          <a:solidFill>
            <a:srgbClr val="E9DCE4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498348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world/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498348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Draws the city and moves the player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never decide anything about money.</a:t>
            </a:r>
            <a:endParaRPr lang="en-US" sz="2000" dirty="0"/>
          </a:p>
        </p:txBody>
      </p:sp>
      <p:sp>
        <p:nvSpPr>
          <p:cNvPr id="11" name="layer ui/"/>
          <p:cNvSpPr/>
          <p:nvPr/>
        </p:nvSpPr>
        <p:spPr>
          <a:xfrm>
            <a:off x="914400" y="6583680"/>
            <a:ext cx="10424160" cy="1325880"/>
          </a:xfrm>
          <a:prstGeom prst="rect">
            <a:avLst/>
          </a:prstGeom>
          <a:solidFill>
            <a:srgbClr val="E9DCE4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658368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658368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state and sends actions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never do money maths itself.</a:t>
            </a:r>
            <a:endParaRPr lang="en-US" sz="2000" dirty="0"/>
          </a:p>
        </p:txBody>
      </p:sp>
      <p:sp>
        <p:nvSpPr>
          <p:cNvPr id="14" name="layer note"/>
          <p:cNvSpPr/>
          <p:nvPr/>
        </p:nvSpPr>
        <p:spPr>
          <a:xfrm>
            <a:off x="914400" y="84124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meet in one store. Phaser reaches the rest of the app through a single bridge file, and privacy between a teacher and a student is enforced in Postgres row-level security, not in the client. Money is stored as whole paise and formatted in one place, so no screen can round it differently.</a:t>
            </a:r>
            <a:endParaRPr lang="en-US" sz="1800" dirty="0"/>
          </a:p>
        </p:txBody>
      </p:sp>
      <p:sp>
        <p:nvSpPr>
          <p:cNvPr id="15" name="THE STACK label"/>
          <p:cNvSpPr/>
          <p:nvPr/>
        </p:nvSpPr>
        <p:spPr>
          <a:xfrm>
            <a:off x="1207008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</a:t>
            </a:r>
            <a:endParaRPr lang="en-US" sz="1600" dirty="0"/>
          </a:p>
        </p:txBody>
      </p:sp>
      <p:sp>
        <p:nvSpPr>
          <p:cNvPr id="16" name="THE STACK body"/>
          <p:cNvSpPr/>
          <p:nvPr/>
        </p:nvSpPr>
        <p:spPr>
          <a:xfrm>
            <a:off x="12070080" y="388620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· React 19 · TypeScript (strict) · Tailwind v4 · Phaser 4 · Zustand · Supabase with row-level security. Deployed as one container behind Caddy on a small VPS.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070080" y="5852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 MB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264640" y="59070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bundle, 554 KB gzipped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70080" y="6903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second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264640" y="69585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real time per game minute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70080" y="7955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paise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264640" y="80101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stored as whole integers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70080" y="9006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0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264640" y="9061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migrations, old saves still load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C9B6C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TinyFish integration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pPr indent="0" marL="0">
              <a:buNone/>
            </a:pPr>
            <a:r>
              <a:rPr lang="en-US" sz="1900" b="1" spc="3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do the homework the game cannot.</a:t>
            </a:r>
            <a:endParaRPr lang="en-US" sz="2800" dirty="0"/>
          </a:p>
        </p:txBody>
      </p:sp>
      <p:sp>
        <p:nvSpPr>
          <p:cNvPr id="5" name="tinyfish card 0"/>
          <p:cNvSpPr/>
          <p:nvPr/>
        </p:nvSpPr>
        <p:spPr>
          <a:xfrm>
            <a:off x="914400" y="3291840"/>
            <a:ext cx="7955280" cy="2468880"/>
          </a:xfrm>
          <a:prstGeom prst="rect">
            <a:avLst/>
          </a:prstGeom>
          <a:solidFill>
            <a:srgbClr val="241430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 + 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406908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fact packs for the Casebook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Filings, regulator orders and news archives pulled as structured JSON, so every figure in a real case lands with its citation attached. The draft banner on that content comes off.</a:t>
            </a:r>
            <a:endParaRPr lang="en-US" sz="2100" dirty="0"/>
          </a:p>
        </p:txBody>
      </p:sp>
      <p:sp>
        <p:nvSpPr>
          <p:cNvPr id="8" name="tinyfish card 1"/>
          <p:cNvSpPr/>
          <p:nvPr/>
        </p:nvSpPr>
        <p:spPr>
          <a:xfrm>
            <a:off x="9418320" y="3291840"/>
            <a:ext cx="7955280" cy="2468880"/>
          </a:xfrm>
          <a:prstGeom prst="rect">
            <a:avLst/>
          </a:prstGeom>
          <a:solidFill>
            <a:srgbClr val="241430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29800" y="406908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pages that make new cases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standing watch on regulator and exchange pages. When a concluded event appears, we are told, and a new drill gets written from it — triggered by the alert, authored by a human.</a:t>
            </a:r>
            <a:endParaRPr lang="en-US" sz="2100" dirty="0"/>
          </a:p>
        </p:txBody>
      </p:sp>
      <p:sp>
        <p:nvSpPr>
          <p:cNvPr id="11" name="tinyfish card 2"/>
          <p:cNvSpPr/>
          <p:nvPr/>
        </p:nvSpPr>
        <p:spPr>
          <a:xfrm>
            <a:off x="914400" y="6126480"/>
            <a:ext cx="7955280" cy="2468880"/>
          </a:xfrm>
          <a:prstGeom prst="rect">
            <a:avLst/>
          </a:prstGeom>
          <a:solidFill>
            <a:srgbClr val="241430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6400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 +  TINYVAULT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690372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college systems that have no API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goal-driven agent signs in to a department portal and files a class’s results, with credentials held in the vault and never seen by the model.</a:t>
            </a:r>
            <a:endParaRPr lang="en-US" sz="2100" dirty="0"/>
          </a:p>
        </p:txBody>
      </p:sp>
      <p:sp>
        <p:nvSpPr>
          <p:cNvPr id="14" name="tinyfish card 3"/>
          <p:cNvSpPr/>
          <p:nvPr/>
        </p:nvSpPr>
        <p:spPr>
          <a:xfrm>
            <a:off x="9418320" y="6126480"/>
            <a:ext cx="7955280" cy="2468880"/>
          </a:xfrm>
          <a:prstGeom prst="rect">
            <a:avLst/>
          </a:prstGeom>
          <a:solidFill>
            <a:srgbClr val="241430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6400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29800" y="690372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citations honest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nightly pass opens every source link in the Casebook and flags the ones that moved, changed or died, so study material cannot rot quietly.</a:t>
            </a:r>
            <a:endParaRPr lang="en-US" sz="2100" dirty="0"/>
          </a:p>
        </p:txBody>
      </p:sp>
      <p:sp>
        <p:nvSpPr>
          <p:cNvPr id="17" name="takeaway band"/>
          <p:cNvSpPr/>
          <p:nvPr/>
        </p:nvSpPr>
        <p:spPr>
          <a:xfrm>
            <a:off x="0" y="9235440"/>
            <a:ext cx="18288000" cy="1051560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9628632"/>
            <a:ext cx="201168" cy="201168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9" name="takeaway"/>
          <p:cNvSpPr/>
          <p:nvPr/>
        </p:nvSpPr>
        <p:spPr>
          <a:xfrm>
            <a:off x="1371600" y="928116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never touches the playable market. It feeds the study material and the teacher’s workflow — the companies you trade stay invented, because a learning game with real tickers is advice.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4A3A5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pPr indent="0" marL="0">
              <a:buNone/>
            </a:pPr>
            <a:r>
              <a:rPr lang="en-US" sz="1900" b="1" spc="3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of judgement, not a high score.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2064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12064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932688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drills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53312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135331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collapses</a:t>
            </a:r>
            <a:endParaRPr lang="en-US" sz="1700" dirty="0"/>
          </a:p>
        </p:txBody>
      </p:sp>
      <p:sp>
        <p:nvSpPr>
          <p:cNvPr id="13" name="FOR A STUDENT label"/>
          <p:cNvSpPr/>
          <p:nvPr/>
        </p:nvSpPr>
        <p:spPr>
          <a:xfrm>
            <a:off x="914400" y="5394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STUDENT</a:t>
            </a:r>
            <a:endParaRPr lang="en-US" sz="1600" dirty="0"/>
          </a:p>
        </p:txBody>
      </p:sp>
      <p:sp>
        <p:nvSpPr>
          <p:cNvPr id="14" name="FOR A STUDENT body"/>
          <p:cNvSpPr/>
          <p:nvPr/>
        </p:nvSpPr>
        <p:spPr>
          <a:xfrm>
            <a:off x="914400" y="58978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to show for the practice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met, every decision with its risk-read accuracy, modules passed and mistakes logged — issued as a transcript with a code anyone can check in a browser, with no sign-in.</a:t>
            </a:r>
            <a:endParaRPr lang="en-US" sz="2100" dirty="0"/>
          </a:p>
        </p:txBody>
      </p:sp>
      <p:sp>
        <p:nvSpPr>
          <p:cNvPr id="15" name="FOR A TEACHER label"/>
          <p:cNvSpPr/>
          <p:nvPr/>
        </p:nvSpPr>
        <p:spPr>
          <a:xfrm>
            <a:off x="6583680" y="5394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TEACHER</a:t>
            </a:r>
            <a:endParaRPr lang="en-US" sz="1600" dirty="0"/>
          </a:p>
        </p:txBody>
      </p:sp>
      <p:sp>
        <p:nvSpPr>
          <p:cNvPr id="16" name="FOR A TEACHER body"/>
          <p:cNvSpPr/>
          <p:nvPr/>
        </p:nvSpPr>
        <p:spPr>
          <a:xfrm>
            <a:off x="6583680" y="58978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week’s lesson, written by the class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screen: who has done the work, who is late, and the habits at least a quarter of them share — "trading the noise, 7 of 12 students". Built from how they played, not from a quiz score.</a:t>
            </a:r>
            <a:endParaRPr lang="en-US" sz="2100" dirty="0"/>
          </a:p>
        </p:txBody>
      </p:sp>
      <p:sp>
        <p:nvSpPr>
          <p:cNvPr id="17" name="FOR A COLLEGE label"/>
          <p:cNvSpPr/>
          <p:nvPr/>
        </p:nvSpPr>
        <p:spPr>
          <a:xfrm>
            <a:off x="12252960" y="5394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COLLEGE</a:t>
            </a:r>
            <a:endParaRPr lang="en-US" sz="1600" dirty="0"/>
          </a:p>
        </p:txBody>
      </p:sp>
      <p:sp>
        <p:nvSpPr>
          <p:cNvPr id="18" name="FOR A COLLEGE body"/>
          <p:cNvSpPr/>
          <p:nvPr/>
        </p:nvSpPr>
        <p:spPr>
          <a:xfrm>
            <a:off x="12252960" y="58978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that costs a browser tab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per-seat licence, no lab to set up, nothing to install. The sample class is open to any teacher who wants to see the dashboard before creating one.</a:t>
            </a:r>
            <a:endParaRPr lang="en-US" sz="2100" dirty="0"/>
          </a:p>
        </p:txBody>
      </p:sp>
      <p:sp>
        <p:nvSpPr>
          <p:cNvPr id="19" name="divider"/>
          <p:cNvSpPr/>
          <p:nvPr/>
        </p:nvSpPr>
        <p:spPr>
          <a:xfrm>
            <a:off x="6263640" y="5303520"/>
            <a:ext cx="27432" cy="320040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0" name="divider"/>
          <p:cNvSpPr/>
          <p:nvPr/>
        </p:nvSpPr>
        <p:spPr>
          <a:xfrm>
            <a:off x="11932920" y="5303520"/>
            <a:ext cx="27432" cy="320040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1" name="takeaway band"/>
          <p:cNvSpPr/>
          <p:nvPr/>
        </p:nvSpPr>
        <p:spPr>
          <a:xfrm>
            <a:off x="0" y="9235440"/>
            <a:ext cx="18288000" cy="1051560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9628632"/>
            <a:ext cx="201168" cy="201168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23" name="takeaway"/>
          <p:cNvSpPr/>
          <p:nvPr/>
        </p:nvSpPr>
        <p:spPr>
          <a:xfrm>
            <a:off x="1371600" y="928116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in a browser, on a phone-grade connection: the cost of trying it is one tab.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C9B6C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pPr indent="0" marL="0">
              <a:buNone/>
            </a:pPr>
            <a:r>
              <a:rPr lang="en-US" sz="1900" b="1" spc="3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already runs — at game.akshatchowdhary.online.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43C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TODAY</a:t>
            </a:r>
            <a:endParaRPr lang="en-US" sz="1600" dirty="0"/>
          </a:p>
        </p:txBody>
      </p:sp>
      <p:sp>
        <p:nvSpPr>
          <p:cNvPr id="6" name="live list"/>
          <p:cNvSpPr/>
          <p:nvPr/>
        </p:nvSpPr>
        <p:spPr>
          <a:xfrm>
            <a:off x="914400" y="384048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Playable now, with no install and no sign-in to start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saves, verifiable transcripts and named awards, all live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teacher dashboard with a labelled sample class anyone can open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84-second gameplay trailer on the landing page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9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as one container behind Caddy on an existing VPS</a:t>
            </a:r>
            <a:endParaRPr lang="en-US" sz="1900" dirty="0"/>
          </a:p>
        </p:txBody>
      </p:sp>
      <p:sp>
        <p:nvSpPr>
          <p:cNvPr id="7" name="shot edge"/>
          <p:cNvSpPr/>
          <p:nvPr/>
        </p:nvSpPr>
        <p:spPr>
          <a:xfrm>
            <a:off x="914400" y="6355080"/>
            <a:ext cx="64008" cy="3657600"/>
          </a:xfrm>
          <a:prstGeom prst="rect">
            <a:avLst/>
          </a:prstGeom>
          <a:solidFill>
            <a:srgbClr val="FF2D78"/>
          </a:solidFill>
          <a:ln/>
        </p:spPr>
      </p:sp>
      <p:pic>
        <p:nvPicPr>
          <p:cNvPr id="8" name="01-landing" descr="/home/gingersnaps/Documents/rpgs/novus/docs/screenshots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6355080"/>
            <a:ext cx="5852160" cy="3657600"/>
          </a:xfrm>
          <a:prstGeom prst="rect">
            <a:avLst/>
          </a:prstGeom>
        </p:spPr>
      </p:pic>
      <p:sp>
        <p:nvSpPr>
          <p:cNvPr id="9" name="divider"/>
          <p:cNvSpPr/>
          <p:nvPr/>
        </p:nvSpPr>
        <p:spPr>
          <a:xfrm>
            <a:off x="8778240" y="3200400"/>
            <a:ext cx="27432" cy="585216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0" name="WHAT IT TAKES TO RUN label"/>
          <p:cNvSpPr/>
          <p:nvPr/>
        </p:nvSpPr>
        <p:spPr>
          <a:xfrm>
            <a:off x="950976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TAKES TO RUN</a:t>
            </a:r>
            <a:endParaRPr lang="en-US" sz="1600" dirty="0"/>
          </a:p>
        </p:txBody>
      </p:sp>
      <p:sp>
        <p:nvSpPr>
          <p:cNvPr id="11" name="WHAT IT TAKES TO RUN body"/>
          <p:cNvSpPr/>
          <p:nvPr/>
        </p:nvSpPr>
        <p:spPr>
          <a:xfrm>
            <a:off x="9509760" y="37947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tab, and a container that costs nothing extra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9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is one static bundle; Supabase’s free tier covers saves, transcripts and classes for a pilot-sized cohort.</a:t>
            </a:r>
            <a:endParaRPr lang="en-US" sz="2100" dirty="0"/>
          </a:p>
        </p:txBody>
      </p:sp>
      <p:sp>
        <p:nvSpPr>
          <p:cNvPr id="12" name="CONTENT ACCURACY label"/>
          <p:cNvSpPr/>
          <p:nvPr/>
        </p:nvSpPr>
        <p:spPr>
          <a:xfrm>
            <a:off x="9509760" y="5394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ACCURACY</a:t>
            </a:r>
            <a:endParaRPr lang="en-US" sz="1600" dirty="0"/>
          </a:p>
        </p:txBody>
      </p:sp>
      <p:sp>
        <p:nvSpPr>
          <p:cNvPr id="13" name="CONTENT ACCURACY body"/>
          <p:cNvSpPr/>
          <p:nvPr/>
        </p:nvSpPr>
        <p:spPr>
          <a:xfrm>
            <a:off x="9509760" y="58978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real cases keep a draft banner until their figures pass a source check. TinyFish is how that check gets done rather than skipped.</a:t>
            </a:r>
            <a:endParaRPr lang="en-US" sz="2100" dirty="0"/>
          </a:p>
        </p:txBody>
      </p:sp>
      <p:sp>
        <p:nvSpPr>
          <p:cNvPr id="14" name="NO MOBILE LAYOUT YET label"/>
          <p:cNvSpPr/>
          <p:nvPr/>
        </p:nvSpPr>
        <p:spPr>
          <a:xfrm>
            <a:off x="9509760" y="7040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MOBILE LAYOUT YET</a:t>
            </a:r>
            <a:endParaRPr lang="en-US" sz="1600" dirty="0"/>
          </a:p>
        </p:txBody>
      </p:sp>
      <p:sp>
        <p:nvSpPr>
          <p:cNvPr id="15" name="NO MOBILE LAYOUT YET body"/>
          <p:cNvSpPr/>
          <p:nvPr/>
        </p:nvSpPr>
        <p:spPr>
          <a:xfrm>
            <a:off x="9509760" y="75438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built for a laptop screen. A phone layout is scoped, not written.</a:t>
            </a:r>
            <a:endParaRPr lang="en-US" sz="2100" dirty="0"/>
          </a:p>
        </p:txBody>
      </p:sp>
      <p:sp>
        <p:nvSpPr>
          <p:cNvPr id="16" name="NO TEST SUITE YET label"/>
          <p:cNvSpPr/>
          <p:nvPr/>
        </p:nvSpPr>
        <p:spPr>
          <a:xfrm>
            <a:off x="9509760" y="8686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B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TEST SUITE YET</a:t>
            </a:r>
            <a:endParaRPr lang="en-US" sz="1600" dirty="0"/>
          </a:p>
        </p:txBody>
      </p:sp>
      <p:sp>
        <p:nvSpPr>
          <p:cNvPr id="17" name="NO TEST SUITE YET body"/>
          <p:cNvSpPr/>
          <p:nvPr/>
        </p:nvSpPr>
        <p:spPr>
          <a:xfrm>
            <a:off x="9509760" y="91897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F7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are pure and seeded, which makes them easy to test — the tests are simply not written.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4A3A5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1005840"/>
            <a:ext cx="1645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5000" dirty="0"/>
          </a:p>
        </p:txBody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914400" y="566928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pPr indent="0" marL="0">
              <a:buNone/>
            </a:pPr>
            <a:r>
              <a:rPr lang="en-US" sz="1900" b="1" spc="3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NOVUS  ·  FINANCE, PLAYED</a:t>
            </a:r>
            <a:endParaRPr lang="en-US" sz="1900" dirty="0"/>
          </a:p>
        </p:txBody>
      </p:sp>
      <p:sp>
        <p:nvSpPr>
          <p:cNvPr id="4" name="statement"/>
          <p:cNvSpPr/>
          <p:nvPr/>
        </p:nvSpPr>
        <p:spPr>
          <a:xfrm>
            <a:off x="914400" y="214884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C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TERM</a:t>
            </a:r>
            <a:endParaRPr lang="en-US" sz="1600" dirty="0"/>
          </a:p>
        </p:txBody>
      </p:sp>
      <p:sp>
        <p:nvSpPr>
          <p:cNvPr id="6" name="future NEXT TERM"/>
          <p:cNvSpPr/>
          <p:nvPr/>
        </p:nvSpPr>
        <p:spPr>
          <a:xfrm>
            <a:off x="914400" y="40233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graded by a model, against the drivers the file had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layout, and a first-run tutorial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suite over the seeded rules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Casebook figures sourced and the draft banner removed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YEAR AFTER</a:t>
            </a:r>
            <a:endParaRPr lang="en-US" sz="1600" dirty="0"/>
          </a:p>
        </p:txBody>
      </p:sp>
      <p:sp>
        <p:nvSpPr>
          <p:cNvPr id="8" name="future THE YEAR AFTER"/>
          <p:cNvSpPr/>
          <p:nvPr/>
        </p:nvSpPr>
        <p:spPr>
          <a:xfrm>
            <a:off x="6583680" y="40233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arc that runs across weeks, not days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desks that are still nameplates: insurance, payments, the FinTech floor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case library that grows from monitored events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pilots with a college, measured against a control group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25296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C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IT WORKS</a:t>
            </a:r>
            <a:endParaRPr lang="en-US" sz="1600" dirty="0"/>
          </a:p>
        </p:txBody>
      </p:sp>
      <p:sp>
        <p:nvSpPr>
          <p:cNvPr id="10" name="future IF IT WORKS"/>
          <p:cNvSpPr/>
          <p:nvPr/>
        </p:nvSpPr>
        <p:spPr>
          <a:xfrm>
            <a:off x="12252960" y="40233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Novus as a practical paper in a commerce course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 a recruiter recognises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900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 case format, so a teacher can write their own file</a:t>
            </a:r>
            <a:endParaRPr lang="en-US" sz="1900" dirty="0"/>
          </a:p>
        </p:txBody>
      </p:sp>
      <p:sp>
        <p:nvSpPr>
          <p:cNvPr id="11" name="divider"/>
          <p:cNvSpPr/>
          <p:nvPr/>
        </p:nvSpPr>
        <p:spPr>
          <a:xfrm>
            <a:off x="6263640" y="3383280"/>
            <a:ext cx="27432" cy="475488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2" name="divider"/>
          <p:cNvSpPr/>
          <p:nvPr/>
        </p:nvSpPr>
        <p:spPr>
          <a:xfrm>
            <a:off x="11932920" y="3383280"/>
            <a:ext cx="27432" cy="475488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3" name="takeaway band"/>
          <p:cNvSpPr/>
          <p:nvPr/>
        </p:nvSpPr>
        <p:spPr>
          <a:xfrm>
            <a:off x="0" y="9235440"/>
            <a:ext cx="18288000" cy="1051560"/>
          </a:xfrm>
          <a:prstGeom prst="rect">
            <a:avLst/>
          </a:prstGeom>
          <a:solidFill>
            <a:srgbClr val="F2A73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9628632"/>
            <a:ext cx="201168" cy="201168"/>
          </a:xfrm>
          <a:prstGeom prst="rect">
            <a:avLst/>
          </a:prstGeom>
          <a:solidFill>
            <a:srgbClr val="16091C"/>
          </a:solidFill>
          <a:ln/>
        </p:spPr>
      </p:sp>
      <p:sp>
        <p:nvSpPr>
          <p:cNvPr id="15" name="takeaway"/>
          <p:cNvSpPr/>
          <p:nvPr/>
        </p:nvSpPr>
        <p:spPr>
          <a:xfrm>
            <a:off x="1371600" y="928116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0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is finished. What is left is content, reach, and proof from a real classroom — play a day of it at game.akshatchowdhary.online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282160" y="962863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C9B6C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vus">
  <a:themeElements>
    <a:clrScheme name="Novus">
      <a:dk1>
        <a:srgbClr val="16091C"/>
      </a:dk1>
      <a:lt1>
        <a:srgbClr val="F7EEF3"/>
      </a:lt1>
      <a:dk2>
        <a:srgbClr val="241430"/>
      </a:dk2>
      <a:lt2>
        <a:srgbClr val="E9DCE4"/>
      </a:lt2>
      <a:accent1>
        <a:srgbClr val="FF2D78"/>
      </a:accent1>
      <a:accent2>
        <a:srgbClr val="F2A73B"/>
      </a:accent2>
      <a:accent3>
        <a:srgbClr val="FF7AB0"/>
      </a:accent3>
      <a:accent4>
        <a:srgbClr val="C9B6CF"/>
      </a:accent4>
      <a:accent5>
        <a:srgbClr val="5C4A63"/>
      </a:accent5>
      <a:accent6>
        <a:srgbClr val="43C08A"/>
      </a:accent6>
      <a:hlink>
        <a:srgbClr val="FF7AB0"/>
      </a:hlink>
      <a:folHlink>
        <a:srgbClr val="C9B6CF"/>
      </a:folHlink>
    </a:clrScheme>
    <a:fontScheme name="Novu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Novus — finance, played</dc:title>
  <dc:subject>Hackathon pitch</dc:subject>
  <dc:creator>Akshat Chowdhary</dc:creator>
  <cp:lastModifiedBy>Akshat Chowdhary</cp:lastModifiedBy>
  <cp:revision>1</cp:revision>
  <dcterms:created xsi:type="dcterms:W3CDTF">2026-10-17T14:21:25Z</dcterms:created>
  <dcterms:modified xsi:type="dcterms:W3CDTF">2026-10-17T14:21:25Z</dcterms:modified>
</cp:coreProperties>
</file>